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IBM Plex Sans Light"/>
      <p:regular r:id="rId22"/>
      <p:bold r:id="rId23"/>
      <p:italic r:id="rId24"/>
      <p:boldItalic r:id="rId25"/>
    </p:embeddedFont>
    <p:embeddedFont>
      <p:font typeface="IBM Plex Mono Light"/>
      <p:regular r:id="rId26"/>
      <p:bold r:id="rId27"/>
      <p:italic r:id="rId28"/>
      <p:boldItalic r:id="rId29"/>
    </p:embeddedFont>
    <p:embeddedFont>
      <p:font typeface="IBM Plex Sans Medium"/>
      <p:regular r:id="rId30"/>
      <p:bold r:id="rId31"/>
      <p:italic r:id="rId32"/>
      <p:boldItalic r:id="rId33"/>
    </p:embeddedFont>
    <p:embeddedFont>
      <p:font typeface="IBM Plex Mono SemiBold"/>
      <p:regular r:id="rId34"/>
      <p:bold r:id="rId35"/>
      <p:italic r:id="rId36"/>
      <p:boldItalic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0C52B7-A40C-49DB-B605-DC794E575C55}">
  <a:tblStyle styleId="{5C0C52B7-A40C-49DB-B605-DC794E575C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7759448-D5AB-4EED-B314-0BBE0966A65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41" Type="http://schemas.openxmlformats.org/officeDocument/2006/relationships/font" Target="fonts/IBMPlexSansSemiBold-boldItalic.fntdata"/><Relationship Id="rId22" Type="http://schemas.openxmlformats.org/officeDocument/2006/relationships/font" Target="fonts/IBMPlexSansLight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Light-italic.fntdata"/><Relationship Id="rId23" Type="http://schemas.openxmlformats.org/officeDocument/2006/relationships/font" Target="fonts/IBMPlexSa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BMPlexMonoLight-regular.fntdata"/><Relationship Id="rId25" Type="http://schemas.openxmlformats.org/officeDocument/2006/relationships/font" Target="fonts/IBMPlexSansLight-boldItalic.fntdata"/><Relationship Id="rId28" Type="http://schemas.openxmlformats.org/officeDocument/2006/relationships/font" Target="fonts/IBMPlexMonoLight-italic.fntdata"/><Relationship Id="rId27" Type="http://schemas.openxmlformats.org/officeDocument/2006/relationships/font" Target="fonts/IBMPlexMonoLigh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BMPlexMonoLigh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Medium-bold.fntdata"/><Relationship Id="rId30" Type="http://schemas.openxmlformats.org/officeDocument/2006/relationships/font" Target="fonts/IBMPlexSansMedium-regular.fntdata"/><Relationship Id="rId11" Type="http://schemas.openxmlformats.org/officeDocument/2006/relationships/slide" Target="slides/slide4.xml"/><Relationship Id="rId33" Type="http://schemas.openxmlformats.org/officeDocument/2006/relationships/font" Target="fonts/IBMPlexSansMedium-boldItalic.fntdata"/><Relationship Id="rId10" Type="http://schemas.openxmlformats.org/officeDocument/2006/relationships/slide" Target="slides/slide3.xml"/><Relationship Id="rId32" Type="http://schemas.openxmlformats.org/officeDocument/2006/relationships/font" Target="fonts/IBMPlexSansMedium-italic.fntdata"/><Relationship Id="rId13" Type="http://schemas.openxmlformats.org/officeDocument/2006/relationships/slide" Target="slides/slide6.xml"/><Relationship Id="rId35" Type="http://schemas.openxmlformats.org/officeDocument/2006/relationships/font" Target="fonts/IBMPlexMonoSemiBold-bold.fntdata"/><Relationship Id="rId12" Type="http://schemas.openxmlformats.org/officeDocument/2006/relationships/slide" Target="slides/slide5.xml"/><Relationship Id="rId34" Type="http://schemas.openxmlformats.org/officeDocument/2006/relationships/font" Target="fonts/IBMPlexMonoSemiBold-regular.fntdata"/><Relationship Id="rId15" Type="http://schemas.openxmlformats.org/officeDocument/2006/relationships/slide" Target="slides/slide8.xml"/><Relationship Id="rId37" Type="http://schemas.openxmlformats.org/officeDocument/2006/relationships/font" Target="fonts/IBMPlexMonoSemiBold-boldItalic.fntdata"/><Relationship Id="rId14" Type="http://schemas.openxmlformats.org/officeDocument/2006/relationships/slide" Target="slides/slide7.xml"/><Relationship Id="rId36" Type="http://schemas.openxmlformats.org/officeDocument/2006/relationships/font" Target="fonts/IBMPlexMonoSemiBold-italic.fntdata"/><Relationship Id="rId17" Type="http://schemas.openxmlformats.org/officeDocument/2006/relationships/slide" Target="slides/slide10.xml"/><Relationship Id="rId39" Type="http://schemas.openxmlformats.org/officeDocument/2006/relationships/font" Target="fonts/IBMPlexSansSemiBold-bold.fntdata"/><Relationship Id="rId16" Type="http://schemas.openxmlformats.org/officeDocument/2006/relationships/slide" Target="slides/slide9.xml"/><Relationship Id="rId38" Type="http://schemas.openxmlformats.org/officeDocument/2006/relationships/font" Target="fonts/IBMPlexSansSemiBold-regular.fntdata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5c3ea6e50c4751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5c3ea6e50c4751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5c3ea6e50c47510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h5c3ea6e50c47510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5c3ea6e50c47510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h5c3ea6e50c4751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35578b5ac829c6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35578b5ac829c6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5c3ea6e50c47510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h5c3ea6e50c47510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5c3ea6e50c47510b_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h5c3ea6e50c47510b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35578b5ac829c6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35578b5ac829c6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35578b5ac829c6d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h35578b5ac829c6d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35578b5ac829c6d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35578b5ac829c6d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h35578b5ac829c6d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h35578b5ac829c6d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1" name="Google Shape;71;p17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72" name="Google Shape;72;p17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77" name="Google Shape;77;p18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42975" y="2630575"/>
            <a:ext cx="37527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452925"/>
            <a:ext cx="37527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4582900" y="1058100"/>
            <a:ext cx="10476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2" type="subTitle"/>
          </p:nvPr>
        </p:nvSpPr>
        <p:spPr>
          <a:xfrm>
            <a:off x="6284500" y="1058100"/>
            <a:ext cx="24024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4582900" y="1058100"/>
            <a:ext cx="41040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42900" y="452925"/>
            <a:ext cx="53946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6" name="Google Shape;96;p21"/>
          <p:cNvSpPr/>
          <p:nvPr/>
        </p:nvSpPr>
        <p:spPr>
          <a:xfrm>
            <a:off x="453727" y="15909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645275" y="1495225"/>
            <a:ext cx="53946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342975" y="1913700"/>
            <a:ext cx="56970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idea with image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" type="subTitle"/>
          </p:nvPr>
        </p:nvSpPr>
        <p:spPr>
          <a:xfrm>
            <a:off x="5239600" y="87178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4937300" y="1290250"/>
            <a:ext cx="2875500" cy="28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  <p15:guide id="2" orient="horz" pos="259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image">
  <p:cSld name="TITLE_AND_BOD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idx="1" type="subTitle"/>
          </p:nvPr>
        </p:nvSpPr>
        <p:spPr>
          <a:xfrm>
            <a:off x="5239600" y="87178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4937300" y="1290250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3" type="subTitle"/>
          </p:nvPr>
        </p:nvSpPr>
        <p:spPr>
          <a:xfrm>
            <a:off x="5239600" y="1997709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4" type="body"/>
          </p:nvPr>
        </p:nvSpPr>
        <p:spPr>
          <a:xfrm>
            <a:off x="4937300" y="2416175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5" type="subTitle"/>
          </p:nvPr>
        </p:nvSpPr>
        <p:spPr>
          <a:xfrm>
            <a:off x="5239600" y="312363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6" type="body"/>
          </p:nvPr>
        </p:nvSpPr>
        <p:spPr>
          <a:xfrm>
            <a:off x="4937300" y="3542100"/>
            <a:ext cx="37482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type="twoColTx">
  <p:cSld name="TITLE_AND_TWO_COLUMN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42900" y="2506825"/>
            <a:ext cx="8343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mall image with footer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42900" y="457200"/>
            <a:ext cx="53436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518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ONE_COLUMN_TEXT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hasCustomPrompt="1" type="title"/>
          </p:nvPr>
        </p:nvSpPr>
        <p:spPr>
          <a:xfrm>
            <a:off x="-2143950" y="25"/>
            <a:ext cx="112077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ubtitle, body and images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>
            <p:ph idx="2" type="pic"/>
          </p:nvPr>
        </p:nvSpPr>
        <p:spPr>
          <a:xfrm>
            <a:off x="6708900" y="4572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7"/>
          <p:cNvSpPr/>
          <p:nvPr>
            <p:ph idx="3" type="pic"/>
          </p:nvPr>
        </p:nvSpPr>
        <p:spPr>
          <a:xfrm>
            <a:off x="6708900" y="25911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7"/>
          <p:cNvSpPr txBox="1"/>
          <p:nvPr>
            <p:ph idx="1" type="subTitle"/>
          </p:nvPr>
        </p:nvSpPr>
        <p:spPr>
          <a:xfrm>
            <a:off x="645275" y="55137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4" type="subTitle"/>
          </p:nvPr>
        </p:nvSpPr>
        <p:spPr>
          <a:xfrm>
            <a:off x="2417375" y="55137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5" type="body"/>
          </p:nvPr>
        </p:nvSpPr>
        <p:spPr>
          <a:xfrm>
            <a:off x="342975" y="96985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6" type="subTitle"/>
          </p:nvPr>
        </p:nvSpPr>
        <p:spPr>
          <a:xfrm>
            <a:off x="645275" y="260552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7" type="subTitle"/>
          </p:nvPr>
        </p:nvSpPr>
        <p:spPr>
          <a:xfrm>
            <a:off x="2417375" y="260552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8" type="body"/>
          </p:nvPr>
        </p:nvSpPr>
        <p:spPr>
          <a:xfrm>
            <a:off x="342975" y="302400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0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57" name="Google Shape;157;p29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9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9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62" name="Google Shape;162;p2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9"/>
          <p:cNvSpPr/>
          <p:nvPr/>
        </p:nvSpPr>
        <p:spPr>
          <a:xfrm>
            <a:off x="33240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" name="Google Shape;166;p29"/>
          <p:cNvSpPr/>
          <p:nvPr/>
        </p:nvSpPr>
        <p:spPr>
          <a:xfrm>
            <a:off x="61943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73" name="Google Shape;173;p30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30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30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subTitle"/>
          </p:nvPr>
        </p:nvSpPr>
        <p:spPr>
          <a:xfrm>
            <a:off x="64527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2" type="body"/>
          </p:nvPr>
        </p:nvSpPr>
        <p:spPr>
          <a:xfrm>
            <a:off x="34297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78" name="Google Shape;178;p30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30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>
            <p:ph idx="3" type="subTitle"/>
          </p:nvPr>
        </p:nvSpPr>
        <p:spPr>
          <a:xfrm>
            <a:off x="488082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4" type="body"/>
          </p:nvPr>
        </p:nvSpPr>
        <p:spPr>
          <a:xfrm>
            <a:off x="457852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87" name="Google Shape;187;p31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1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31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1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>
            <p:ph idx="2" type="subTitle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2" name="Google Shape;192;p31"/>
          <p:cNvSpPr txBox="1"/>
          <p:nvPr>
            <p:ph idx="3" type="body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31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4" type="subTitle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5" type="body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6" name="Google Shape;196;p31"/>
          <p:cNvSpPr/>
          <p:nvPr/>
        </p:nvSpPr>
        <p:spPr>
          <a:xfrm>
            <a:off x="25714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idx="6" type="subTitle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8" name="Google Shape;198;p31"/>
          <p:cNvSpPr txBox="1"/>
          <p:nvPr>
            <p:ph idx="7" type="body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" name="Google Shape;199;p31"/>
          <p:cNvSpPr/>
          <p:nvPr/>
        </p:nvSpPr>
        <p:spPr>
          <a:xfrm>
            <a:off x="680710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>
            <p:ph idx="8" type="subTitle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  <p15:guide id="2" pos="2884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1">
  <p:cSld name="CUSTOM_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2">
  <p:cSld name="CUSTOM_3_3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18919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2" type="body"/>
          </p:nvPr>
        </p:nvSpPr>
        <p:spPr>
          <a:xfrm>
            <a:off x="4572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46861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3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20" name="Google Shape;220;p34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4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22" name="Google Shape;222;p3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3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35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5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29" name="Google Shape;229;p3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4933600" y="1058025"/>
            <a:ext cx="3523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3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36"/>
          <p:cNvCxnSpPr/>
          <p:nvPr/>
        </p:nvCxnSpPr>
        <p:spPr>
          <a:xfrm rot="10800000">
            <a:off x="3319175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6"/>
          <p:cNvSpPr txBox="1"/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37" name="Google Shape;237;p3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6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6"/>
          <p:cNvSpPr/>
          <p:nvPr/>
        </p:nvSpPr>
        <p:spPr>
          <a:xfrm>
            <a:off x="3813602" y="12015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>
            <p:ph idx="1" type="subTitle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1" name="Google Shape;241;p36"/>
          <p:cNvSpPr/>
          <p:nvPr/>
        </p:nvSpPr>
        <p:spPr>
          <a:xfrm>
            <a:off x="3813602" y="16896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6"/>
          <p:cNvSpPr txBox="1"/>
          <p:nvPr>
            <p:ph idx="2" type="subTitle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3" name="Google Shape;243;p36"/>
          <p:cNvSpPr/>
          <p:nvPr/>
        </p:nvSpPr>
        <p:spPr>
          <a:xfrm>
            <a:off x="3813602" y="21777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>
            <p:ph idx="3" type="subTitle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5" name="Google Shape;245;p36"/>
          <p:cNvSpPr/>
          <p:nvPr/>
        </p:nvSpPr>
        <p:spPr>
          <a:xfrm>
            <a:off x="3813602" y="26964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6"/>
          <p:cNvSpPr txBox="1"/>
          <p:nvPr>
            <p:ph idx="4" type="subTitle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7" name="Google Shape;247;p36"/>
          <p:cNvSpPr/>
          <p:nvPr/>
        </p:nvSpPr>
        <p:spPr>
          <a:xfrm>
            <a:off x="3813602" y="32152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>
            <p:ph idx="5" type="subTitle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9" name="Google Shape;249;p36"/>
          <p:cNvSpPr/>
          <p:nvPr/>
        </p:nvSpPr>
        <p:spPr>
          <a:xfrm>
            <a:off x="3813602" y="37339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6" type="subTitle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1" name="Google Shape;251;p3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footer">
  <p:cSld name="CUSTOM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3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footer">
  <p:cSld name="CUSTOM_7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9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7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header and footer">
  <p:cSld name="CUSTOM_2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2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5" name="Google Shape;275;p4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4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_2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85" name="Google Shape;285;p4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89" name="Google Shape;289;p4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4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_1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4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4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5"/>
          <p:cNvSpPr/>
          <p:nvPr>
            <p:ph idx="2" type="pic"/>
          </p:nvPr>
        </p:nvSpPr>
        <p:spPr>
          <a:xfrm>
            <a:off x="457200" y="588788"/>
            <a:ext cx="8229600" cy="3835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_1_2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/>
        </p:nvSpPr>
        <p:spPr>
          <a:xfrm>
            <a:off x="342900" y="1834500"/>
            <a:ext cx="2778300" cy="27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1" name="Google Shape;301;p46"/>
          <p:cNvSpPr/>
          <p:nvPr/>
        </p:nvSpPr>
        <p:spPr>
          <a:xfrm>
            <a:off x="2045193" y="1513259"/>
            <a:ext cx="2393400" cy="25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2" name="Google Shape;302;p46"/>
          <p:cNvSpPr/>
          <p:nvPr/>
        </p:nvSpPr>
        <p:spPr>
          <a:xfrm>
            <a:off x="4171372" y="1976202"/>
            <a:ext cx="2393400" cy="25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3" name="Google Shape;303;p46"/>
          <p:cNvSpPr txBox="1"/>
          <p:nvPr>
            <p:ph type="title"/>
          </p:nvPr>
        </p:nvSpPr>
        <p:spPr>
          <a:xfrm>
            <a:off x="342900" y="457200"/>
            <a:ext cx="84582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4" name="Google Shape;304;p46"/>
          <p:cNvSpPr/>
          <p:nvPr/>
        </p:nvSpPr>
        <p:spPr>
          <a:xfrm>
            <a:off x="4712400" y="1513255"/>
            <a:ext cx="4092900" cy="170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5" name="Google Shape;305;p46"/>
          <p:cNvSpPr/>
          <p:nvPr>
            <p:ph idx="2" type="pic"/>
          </p:nvPr>
        </p:nvSpPr>
        <p:spPr>
          <a:xfrm>
            <a:off x="457200" y="1245883"/>
            <a:ext cx="14907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6"/>
          <p:cNvSpPr/>
          <p:nvPr>
            <p:ph idx="3" type="pic"/>
          </p:nvPr>
        </p:nvSpPr>
        <p:spPr>
          <a:xfrm>
            <a:off x="457200" y="2354103"/>
            <a:ext cx="1934700" cy="20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6"/>
          <p:cNvSpPr/>
          <p:nvPr>
            <p:ph idx="4" type="pic"/>
          </p:nvPr>
        </p:nvSpPr>
        <p:spPr>
          <a:xfrm>
            <a:off x="2526950" y="1640193"/>
            <a:ext cx="1785300" cy="18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6"/>
          <p:cNvSpPr/>
          <p:nvPr>
            <p:ph idx="5" type="pic"/>
          </p:nvPr>
        </p:nvSpPr>
        <p:spPr>
          <a:xfrm>
            <a:off x="3284627" y="3602162"/>
            <a:ext cx="1299000" cy="10842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6"/>
          <p:cNvSpPr/>
          <p:nvPr>
            <p:ph idx="6" type="pic"/>
          </p:nvPr>
        </p:nvSpPr>
        <p:spPr>
          <a:xfrm>
            <a:off x="4583875" y="1245829"/>
            <a:ext cx="1716600" cy="235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6"/>
          <p:cNvSpPr/>
          <p:nvPr>
            <p:ph idx="7" type="pic"/>
          </p:nvPr>
        </p:nvSpPr>
        <p:spPr>
          <a:xfrm>
            <a:off x="4718575" y="3753392"/>
            <a:ext cx="1299000" cy="64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6"/>
          <p:cNvSpPr/>
          <p:nvPr>
            <p:ph idx="8" type="pic"/>
          </p:nvPr>
        </p:nvSpPr>
        <p:spPr>
          <a:xfrm>
            <a:off x="6445550" y="2341822"/>
            <a:ext cx="2241300" cy="23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6"/>
          <p:cNvSpPr/>
          <p:nvPr>
            <p:ph idx="9" type="pic"/>
          </p:nvPr>
        </p:nvSpPr>
        <p:spPr>
          <a:xfrm>
            <a:off x="7387850" y="1231200"/>
            <a:ext cx="12990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6"/>
          <p:cNvSpPr/>
          <p:nvPr>
            <p:ph idx="13" type="pic"/>
          </p:nvPr>
        </p:nvSpPr>
        <p:spPr>
          <a:xfrm>
            <a:off x="6445750" y="1632987"/>
            <a:ext cx="805500" cy="5559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two images">
  <p:cSld name="CUSTOM_2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596940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8" name="Google Shape;318;p47"/>
          <p:cNvSpPr/>
          <p:nvPr>
            <p:ph idx="2" type="pic"/>
          </p:nvPr>
        </p:nvSpPr>
        <p:spPr>
          <a:xfrm>
            <a:off x="457200" y="1625175"/>
            <a:ext cx="53454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7"/>
          <p:cNvSpPr/>
          <p:nvPr>
            <p:ph idx="3" type="pic"/>
          </p:nvPr>
        </p:nvSpPr>
        <p:spPr>
          <a:xfrm>
            <a:off x="5943600" y="1635225"/>
            <a:ext cx="27432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7"/>
          <p:cNvSpPr txBox="1"/>
          <p:nvPr>
            <p:ph idx="4" type="subTitle"/>
          </p:nvPr>
        </p:nvSpPr>
        <p:spPr>
          <a:xfrm>
            <a:off x="6452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1" name="Google Shape;321;p47"/>
          <p:cNvSpPr txBox="1"/>
          <p:nvPr>
            <p:ph idx="5" type="subTitle"/>
          </p:nvPr>
        </p:nvSpPr>
        <p:spPr>
          <a:xfrm>
            <a:off x="35156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2" name="Google Shape;322;p47"/>
          <p:cNvSpPr txBox="1"/>
          <p:nvPr>
            <p:ph idx="6" type="subTitle"/>
          </p:nvPr>
        </p:nvSpPr>
        <p:spPr>
          <a:xfrm>
            <a:off x="63860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3" name="Google Shape;323;p47"/>
          <p:cNvSpPr txBox="1"/>
          <p:nvPr>
            <p:ph idx="7" type="body"/>
          </p:nvPr>
        </p:nvSpPr>
        <p:spPr>
          <a:xfrm>
            <a:off x="315615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24" name="Google Shape;324;p47"/>
          <p:cNvSpPr txBox="1"/>
          <p:nvPr>
            <p:ph idx="8" type="body"/>
          </p:nvPr>
        </p:nvSpPr>
        <p:spPr>
          <a:xfrm>
            <a:off x="342975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25" name="Google Shape;325;p47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26" name="Google Shape;326;p4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_1_1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608362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8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31" name="Google Shape;331;p48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48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48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 txBox="1"/>
          <p:nvPr>
            <p:ph idx="2" type="subTitle"/>
          </p:nvPr>
        </p:nvSpPr>
        <p:spPr>
          <a:xfrm>
            <a:off x="64527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5" name="Google Shape;335;p48"/>
          <p:cNvSpPr txBox="1"/>
          <p:nvPr>
            <p:ph idx="3" type="body"/>
          </p:nvPr>
        </p:nvSpPr>
        <p:spPr>
          <a:xfrm>
            <a:off x="34297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48"/>
          <p:cNvSpPr/>
          <p:nvPr/>
        </p:nvSpPr>
        <p:spPr>
          <a:xfrm>
            <a:off x="3324052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8"/>
          <p:cNvSpPr txBox="1"/>
          <p:nvPr>
            <p:ph idx="4" type="subTitle"/>
          </p:nvPr>
        </p:nvSpPr>
        <p:spPr>
          <a:xfrm>
            <a:off x="3515600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5" type="body"/>
          </p:nvPr>
        </p:nvSpPr>
        <p:spPr>
          <a:xfrm>
            <a:off x="3213300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9" name="Google Shape;339;p48"/>
          <p:cNvSpPr/>
          <p:nvPr/>
        </p:nvSpPr>
        <p:spPr>
          <a:xfrm>
            <a:off x="61943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8"/>
          <p:cNvSpPr txBox="1"/>
          <p:nvPr>
            <p:ph idx="6" type="subTitle"/>
          </p:nvPr>
        </p:nvSpPr>
        <p:spPr>
          <a:xfrm>
            <a:off x="638592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41" name="Google Shape;341;p48"/>
          <p:cNvSpPr/>
          <p:nvPr>
            <p:ph idx="7" type="pic"/>
          </p:nvPr>
        </p:nvSpPr>
        <p:spPr>
          <a:xfrm>
            <a:off x="61943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8"/>
          <p:cNvSpPr/>
          <p:nvPr>
            <p:ph idx="8" type="pic"/>
          </p:nvPr>
        </p:nvSpPr>
        <p:spPr>
          <a:xfrm>
            <a:off x="4554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8"/>
          <p:cNvSpPr/>
          <p:nvPr>
            <p:ph idx="9" type="pic"/>
          </p:nvPr>
        </p:nvSpPr>
        <p:spPr>
          <a:xfrm>
            <a:off x="332492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4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48" name="Google Shape;348;p4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9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49"/>
          <p:cNvSpPr/>
          <p:nvPr>
            <p:ph idx="2" type="pic"/>
          </p:nvPr>
        </p:nvSpPr>
        <p:spPr>
          <a:xfrm>
            <a:off x="4554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9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9"/>
          <p:cNvSpPr txBox="1"/>
          <p:nvPr>
            <p:ph idx="1" type="subTitle"/>
          </p:nvPr>
        </p:nvSpPr>
        <p:spPr>
          <a:xfrm>
            <a:off x="64527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53" name="Google Shape;353;p49"/>
          <p:cNvSpPr txBox="1"/>
          <p:nvPr>
            <p:ph idx="3" type="body"/>
          </p:nvPr>
        </p:nvSpPr>
        <p:spPr>
          <a:xfrm>
            <a:off x="34297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9"/>
          <p:cNvSpPr/>
          <p:nvPr/>
        </p:nvSpPr>
        <p:spPr>
          <a:xfrm>
            <a:off x="46892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9"/>
          <p:cNvSpPr txBox="1"/>
          <p:nvPr>
            <p:ph idx="4" type="subTitle"/>
          </p:nvPr>
        </p:nvSpPr>
        <p:spPr>
          <a:xfrm>
            <a:off x="526182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56" name="Google Shape;356;p49"/>
          <p:cNvSpPr txBox="1"/>
          <p:nvPr>
            <p:ph idx="5" type="body"/>
          </p:nvPr>
        </p:nvSpPr>
        <p:spPr>
          <a:xfrm>
            <a:off x="495952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49"/>
          <p:cNvSpPr/>
          <p:nvPr>
            <p:ph idx="6" type="pic"/>
          </p:nvPr>
        </p:nvSpPr>
        <p:spPr>
          <a:xfrm>
            <a:off x="50702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4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">
  <p:cSld name="CUSTOM_4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>
            <p:ph idx="1" type="subTitle"/>
          </p:nvPr>
        </p:nvSpPr>
        <p:spPr>
          <a:xfrm>
            <a:off x="342925" y="457200"/>
            <a:ext cx="40680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2" name="Google Shape;362;p50"/>
          <p:cNvSpPr txBox="1"/>
          <p:nvPr>
            <p:ph idx="2" type="subTitle"/>
          </p:nvPr>
        </p:nvSpPr>
        <p:spPr>
          <a:xfrm>
            <a:off x="4724500" y="457200"/>
            <a:ext cx="2506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3" name="Google Shape;363;p50"/>
          <p:cNvSpPr txBox="1"/>
          <p:nvPr>
            <p:ph idx="3" type="subTitle"/>
          </p:nvPr>
        </p:nvSpPr>
        <p:spPr>
          <a:xfrm>
            <a:off x="7494500" y="457200"/>
            <a:ext cx="1192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4" name="Google Shape;364;p50"/>
          <p:cNvSpPr txBox="1"/>
          <p:nvPr>
            <p:ph idx="4" type="body"/>
          </p:nvPr>
        </p:nvSpPr>
        <p:spPr>
          <a:xfrm>
            <a:off x="342925" y="3553200"/>
            <a:ext cx="4068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5" name="Google Shape;365;p50"/>
          <p:cNvSpPr txBox="1"/>
          <p:nvPr>
            <p:ph idx="5" type="body"/>
          </p:nvPr>
        </p:nvSpPr>
        <p:spPr>
          <a:xfrm>
            <a:off x="4724500" y="3553200"/>
            <a:ext cx="2506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6" name="Google Shape;366;p50"/>
          <p:cNvSpPr txBox="1"/>
          <p:nvPr>
            <p:ph idx="6" type="body"/>
          </p:nvPr>
        </p:nvSpPr>
        <p:spPr>
          <a:xfrm>
            <a:off x="7494400" y="3553200"/>
            <a:ext cx="1192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7" name="Google Shape;367;p50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68" name="Google Shape;368;p5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lage elements">
  <p:cSld name="CUSTOM_5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342900" y="452925"/>
            <a:ext cx="83544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2" name="Google Shape;372;p51"/>
          <p:cNvSpPr txBox="1"/>
          <p:nvPr>
            <p:ph idx="1" type="subTitle"/>
          </p:nvPr>
        </p:nvSpPr>
        <p:spPr>
          <a:xfrm>
            <a:off x="3429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3" name="Google Shape;373;p51"/>
          <p:cNvSpPr txBox="1"/>
          <p:nvPr>
            <p:ph idx="2" type="subTitle"/>
          </p:nvPr>
        </p:nvSpPr>
        <p:spPr>
          <a:xfrm>
            <a:off x="24731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4" name="Google Shape;374;p51"/>
          <p:cNvSpPr txBox="1"/>
          <p:nvPr>
            <p:ph idx="3" type="subTitle"/>
          </p:nvPr>
        </p:nvSpPr>
        <p:spPr>
          <a:xfrm>
            <a:off x="46033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5" name="Google Shape;375;p51"/>
          <p:cNvSpPr txBox="1"/>
          <p:nvPr>
            <p:ph idx="4" type="subTitle"/>
          </p:nvPr>
        </p:nvSpPr>
        <p:spPr>
          <a:xfrm>
            <a:off x="67335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6" name="Google Shape;376;p51"/>
          <p:cNvSpPr txBox="1"/>
          <p:nvPr>
            <p:ph idx="5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77" name="Google Shape;377;p5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9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idx="1" type="body"/>
          </p:nvPr>
        </p:nvSpPr>
        <p:spPr>
          <a:xfrm>
            <a:off x="457200" y="3899675"/>
            <a:ext cx="51924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5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5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3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505000"/>
            <a:ext cx="85206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304800" lvl="1" marL="914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304800" lvl="2" marL="1371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304800" lvl="3" marL="1828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304800" lvl="4" marL="2286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04800" lvl="5" marL="27432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indent="-304800" lvl="6" marL="3200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indent="-304800" lvl="7" marL="3657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indent="-304800" lvl="8" marL="411480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  <p15:guide id="5" orient="horz" pos="2878">
          <p15:clr>
            <a:srgbClr val="E46962"/>
          </p15:clr>
        </p15:guide>
        <p15:guide id="6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/>
          <p:nvPr/>
        </p:nvSpPr>
        <p:spPr>
          <a:xfrm>
            <a:off x="5382871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89" name="Google Shape;389;p54"/>
          <p:cNvSpPr/>
          <p:nvPr>
            <p:ph idx="2" type="pic"/>
          </p:nvPr>
        </p:nvSpPr>
        <p:spPr>
          <a:xfrm>
            <a:off x="5168071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342899" y="1178275"/>
            <a:ext cx="4029300" cy="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ImageLab v2</a:t>
            </a:r>
            <a:endParaRPr sz="4800"/>
          </a:p>
        </p:txBody>
      </p:sp>
      <p:sp>
        <p:nvSpPr>
          <p:cNvPr id="392" name="Google Shape;392;p5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sp>
        <p:nvSpPr>
          <p:cNvPr id="393" name="Google Shape;393;p5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4" name="Google Shape;394;p54"/>
          <p:cNvGrpSpPr/>
          <p:nvPr/>
        </p:nvGrpSpPr>
        <p:grpSpPr>
          <a:xfrm>
            <a:off x="4774042" y="1499600"/>
            <a:ext cx="324300" cy="1072150"/>
            <a:chOff x="8278241" y="2502000"/>
            <a:chExt cx="324300" cy="1072150"/>
          </a:xfrm>
        </p:grpSpPr>
        <p:sp>
          <p:nvSpPr>
            <p:cNvPr id="395" name="Google Shape;395;p54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54"/>
          <p:cNvSpPr/>
          <p:nvPr/>
        </p:nvSpPr>
        <p:spPr>
          <a:xfrm>
            <a:off x="8159021" y="828775"/>
            <a:ext cx="507300" cy="5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54"/>
          <p:cNvGrpSpPr/>
          <p:nvPr/>
        </p:nvGrpSpPr>
        <p:grpSpPr>
          <a:xfrm>
            <a:off x="4523477" y="3825218"/>
            <a:ext cx="574985" cy="507291"/>
            <a:chOff x="6107475" y="4573475"/>
            <a:chExt cx="594300" cy="501771"/>
          </a:xfrm>
        </p:grpSpPr>
        <p:sp>
          <p:nvSpPr>
            <p:cNvPr id="400" name="Google Shape;400;p54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4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4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4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4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4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5" name="Google Shape;425;p5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822" r="23822" t="0"/>
          <a:stretch/>
        </p:blipFill>
        <p:spPr>
          <a:xfrm>
            <a:off x="5168071" y="1099500"/>
            <a:ext cx="3233100" cy="323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54"/>
          <p:cNvSpPr txBox="1"/>
          <p:nvPr>
            <p:ph idx="4294967295" type="subTitle"/>
          </p:nvPr>
        </p:nvSpPr>
        <p:spPr>
          <a:xfrm>
            <a:off x="342900" y="2633855"/>
            <a:ext cx="29373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October 28, 2026</a:t>
            </a:r>
            <a:endParaRPr/>
          </a:p>
        </p:txBody>
      </p:sp>
      <p:sp>
        <p:nvSpPr>
          <p:cNvPr id="427" name="Google Shape;427;p54"/>
          <p:cNvSpPr txBox="1"/>
          <p:nvPr>
            <p:ph idx="4294967295" type="subTitle"/>
          </p:nvPr>
        </p:nvSpPr>
        <p:spPr>
          <a:xfrm>
            <a:off x="342900" y="2385989"/>
            <a:ext cx="29373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/>
              <a:t>Andres Hung &amp; Jennessa Sierra</a:t>
            </a:r>
            <a:endParaRPr sz="1200"/>
          </a:p>
        </p:txBody>
      </p:sp>
      <p:sp>
        <p:nvSpPr>
          <p:cNvPr id="428" name="Google Shape;428;p54"/>
          <p:cNvSpPr txBox="1"/>
          <p:nvPr>
            <p:ph idx="4294967295" type="subTitle"/>
          </p:nvPr>
        </p:nvSpPr>
        <p:spPr>
          <a:xfrm>
            <a:off x="342900" y="2061475"/>
            <a:ext cx="40293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/>
              <a:t>CMPS4191 Advanced Web Technologies Test 2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SHORT + LONG POLLING</a:t>
            </a: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 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34" name="Google Shape;434;p55"/>
          <p:cNvSpPr txBox="1"/>
          <p:nvPr>
            <p:ph idx="1" type="subTitle"/>
          </p:nvPr>
        </p:nvSpPr>
        <p:spPr>
          <a:xfrm>
            <a:off x="645275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SHORT/LONG POLLING MODES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5" name="Google Shape;435;p55"/>
          <p:cNvSpPr txBox="1"/>
          <p:nvPr>
            <p:ph idx="2" type="body"/>
          </p:nvPr>
        </p:nvSpPr>
        <p:spPr>
          <a:xfrm>
            <a:off x="342975" y="2069876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Changeable modes from the UI. Long polling returns</a:t>
            </a:r>
            <a:r>
              <a:rPr lang="en"/>
              <a:t>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204 No Content</a:t>
            </a:r>
            <a:r>
              <a:rPr lang="en"/>
              <a:t> when the Wait query parameter expires.</a:t>
            </a:r>
            <a:endParaRPr/>
          </a:p>
        </p:txBody>
      </p:sp>
      <p:sp>
        <p:nvSpPr>
          <p:cNvPr id="436" name="Google Shape;436;p55"/>
          <p:cNvSpPr txBox="1"/>
          <p:nvPr>
            <p:ph idx="3" type="subTitle"/>
          </p:nvPr>
        </p:nvSpPr>
        <p:spPr>
          <a:xfrm>
            <a:off x="3515600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LONG POLLING PARAMS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7" name="Google Shape;437;p55"/>
          <p:cNvSpPr txBox="1"/>
          <p:nvPr>
            <p:ph idx="4" type="body"/>
          </p:nvPr>
        </p:nvSpPr>
        <p:spPr>
          <a:xfrm>
            <a:off x="3213300" y="2069876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Query parameters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after</a:t>
            </a:r>
            <a:r>
              <a:rPr lang="en"/>
              <a:t> and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wait</a:t>
            </a:r>
            <a:r>
              <a:rPr lang="en"/>
              <a:t> control for the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GET /v1/jobs{id}</a:t>
            </a:r>
            <a:r>
              <a:rPr lang="en"/>
              <a:t> route implement and configure long polling.</a:t>
            </a:r>
            <a:endParaRPr/>
          </a:p>
        </p:txBody>
      </p:sp>
      <p:sp>
        <p:nvSpPr>
          <p:cNvPr id="438" name="Google Shape;438;p55"/>
          <p:cNvSpPr txBox="1"/>
          <p:nvPr>
            <p:ph idx="5" type="subTitle"/>
          </p:nvPr>
        </p:nvSpPr>
        <p:spPr>
          <a:xfrm>
            <a:off x="6385925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JOB VERSION TRACKING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9" name="Google Shape;439;p55"/>
          <p:cNvSpPr txBox="1"/>
          <p:nvPr>
            <p:ph idx="6" type="body"/>
          </p:nvPr>
        </p:nvSpPr>
        <p:spPr>
          <a:xfrm>
            <a:off x="6083625" y="2069875"/>
            <a:ext cx="2922600" cy="9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Job version field implements the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Counter + Version approach</a:t>
            </a:r>
            <a:r>
              <a:rPr lang="en"/>
              <a:t>. Simulated version exists for testing only.</a:t>
            </a:r>
            <a:endParaRPr/>
          </a:p>
        </p:txBody>
      </p:sp>
      <p:sp>
        <p:nvSpPr>
          <p:cNvPr id="440" name="Google Shape;440;p5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55"/>
          <p:cNvSpPr/>
          <p:nvPr/>
        </p:nvSpPr>
        <p:spPr>
          <a:xfrm>
            <a:off x="453727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5"/>
          <p:cNvSpPr/>
          <p:nvPr/>
        </p:nvSpPr>
        <p:spPr>
          <a:xfrm>
            <a:off x="3324052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5"/>
          <p:cNvSpPr/>
          <p:nvPr/>
        </p:nvSpPr>
        <p:spPr>
          <a:xfrm>
            <a:off x="6194377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5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5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55"/>
          <p:cNvSpPr txBox="1"/>
          <p:nvPr/>
        </p:nvSpPr>
        <p:spPr>
          <a:xfrm>
            <a:off x="342900" y="4709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CMPS4191 Advanced Web Technologies Test 2</a:t>
            </a:r>
            <a:endParaRPr sz="8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448" name="Google Shape;448;p55"/>
          <p:cNvSpPr txBox="1"/>
          <p:nvPr>
            <p:ph idx="1" type="subTitle"/>
          </p:nvPr>
        </p:nvSpPr>
        <p:spPr>
          <a:xfrm>
            <a:off x="342975" y="1303100"/>
            <a:ext cx="83439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GOAL</a:t>
            </a:r>
            <a:r>
              <a:rPr lang="en" sz="1200"/>
              <a:t>: Extend functionality to include long polling.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9" name="Google Shape;449;p55"/>
          <p:cNvSpPr txBox="1"/>
          <p:nvPr>
            <p:ph idx="1" type="subTitle"/>
          </p:nvPr>
        </p:nvSpPr>
        <p:spPr>
          <a:xfrm>
            <a:off x="645275" y="3044972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PROGRESSIVE UPDATES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50" name="Google Shape;450;p55"/>
          <p:cNvSpPr txBox="1"/>
          <p:nvPr>
            <p:ph idx="2" type="body"/>
          </p:nvPr>
        </p:nvSpPr>
        <p:spPr>
          <a:xfrm>
            <a:off x="342975" y="3402112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each image variant as they become ready.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Completed</a:t>
            </a:r>
            <a:r>
              <a:rPr lang="en"/>
              <a:t> status is reserved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when every variant is successfully generated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5"/>
          <p:cNvSpPr/>
          <p:nvPr/>
        </p:nvSpPr>
        <p:spPr>
          <a:xfrm>
            <a:off x="453727" y="314818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5"/>
          <p:cNvSpPr txBox="1"/>
          <p:nvPr>
            <p:ph idx="1" type="subTitle"/>
          </p:nvPr>
        </p:nvSpPr>
        <p:spPr>
          <a:xfrm>
            <a:off x="3515600" y="3044972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EXPERIMENTAL CONTROLS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53" name="Google Shape;453;p55"/>
          <p:cNvSpPr txBox="1"/>
          <p:nvPr>
            <p:ph idx="2" type="body"/>
          </p:nvPr>
        </p:nvSpPr>
        <p:spPr>
          <a:xfrm>
            <a:off x="3213300" y="3402111"/>
            <a:ext cx="28500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Comparisons and analyses between short and long polling.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5"/>
          <p:cNvSpPr/>
          <p:nvPr/>
        </p:nvSpPr>
        <p:spPr>
          <a:xfrm>
            <a:off x="3324052" y="314818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60" name="Google Shape;460;p56"/>
          <p:cNvCxnSpPr/>
          <p:nvPr/>
        </p:nvCxnSpPr>
        <p:spPr>
          <a:xfrm>
            <a:off x="4769801" y="4651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56"/>
          <p:cNvSpPr/>
          <p:nvPr/>
        </p:nvSpPr>
        <p:spPr>
          <a:xfrm>
            <a:off x="5047377" y="63620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"/>
          <p:cNvSpPr txBox="1"/>
          <p:nvPr>
            <p:ph type="title"/>
          </p:nvPr>
        </p:nvSpPr>
        <p:spPr>
          <a:xfrm>
            <a:off x="1223925" y="457200"/>
            <a:ext cx="34350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v2 Changes</a:t>
            </a:r>
            <a:endParaRPr/>
          </a:p>
        </p:txBody>
      </p:sp>
      <p:sp>
        <p:nvSpPr>
          <p:cNvPr id="463" name="Google Shape;463;p56"/>
          <p:cNvSpPr txBox="1"/>
          <p:nvPr>
            <p:ph idx="1" type="subTitle"/>
          </p:nvPr>
        </p:nvSpPr>
        <p:spPr>
          <a:xfrm>
            <a:off x="5238925" y="52674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ADDITIONAL DATABASE MIGRATIONS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64" name="Google Shape;464;p56"/>
          <p:cNvSpPr txBox="1"/>
          <p:nvPr>
            <p:ph idx="2" type="body"/>
          </p:nvPr>
        </p:nvSpPr>
        <p:spPr>
          <a:xfrm>
            <a:off x="5047375" y="831903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Adding version and simulated version fields to the jobs table. Refactors to job model.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5" name="Google Shape;465;p5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56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grpSp>
        <p:nvGrpSpPr>
          <p:cNvPr id="467" name="Google Shape;467;p56"/>
          <p:cNvGrpSpPr/>
          <p:nvPr/>
        </p:nvGrpSpPr>
        <p:grpSpPr>
          <a:xfrm>
            <a:off x="4274842" y="4435414"/>
            <a:ext cx="594300" cy="501771"/>
            <a:chOff x="6107475" y="4573475"/>
            <a:chExt cx="594300" cy="501771"/>
          </a:xfrm>
        </p:grpSpPr>
        <p:sp>
          <p:nvSpPr>
            <p:cNvPr id="468" name="Google Shape;468;p56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6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6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6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6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6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6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6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6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6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6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6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6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6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6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6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6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6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6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6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6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6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6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6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6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56"/>
          <p:cNvGrpSpPr/>
          <p:nvPr/>
        </p:nvGrpSpPr>
        <p:grpSpPr>
          <a:xfrm>
            <a:off x="676046" y="654935"/>
            <a:ext cx="324300" cy="1072150"/>
            <a:chOff x="8278241" y="2502000"/>
            <a:chExt cx="324300" cy="1072150"/>
          </a:xfrm>
        </p:grpSpPr>
        <p:sp>
          <p:nvSpPr>
            <p:cNvPr id="494" name="Google Shape;494;p56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6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6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56"/>
          <p:cNvSpPr/>
          <p:nvPr/>
        </p:nvSpPr>
        <p:spPr>
          <a:xfrm>
            <a:off x="5048052" y="380724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6"/>
          <p:cNvSpPr txBox="1"/>
          <p:nvPr>
            <p:ph idx="1" type="subTitle"/>
          </p:nvPr>
        </p:nvSpPr>
        <p:spPr>
          <a:xfrm>
            <a:off x="5239600" y="3711552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EXPERIMENTATION IMPLEMENTATION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99" name="Google Shape;499;p56"/>
          <p:cNvSpPr txBox="1"/>
          <p:nvPr>
            <p:ph idx="2" type="body"/>
          </p:nvPr>
        </p:nvSpPr>
        <p:spPr>
          <a:xfrm>
            <a:off x="5048050" y="4016718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Additional flags for configuring artificial delays and simulated updates. Custom browser network profiles for artificial latency.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p56"/>
          <p:cNvSpPr/>
          <p:nvPr/>
        </p:nvSpPr>
        <p:spPr>
          <a:xfrm>
            <a:off x="5048052" y="259969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6"/>
          <p:cNvSpPr txBox="1"/>
          <p:nvPr>
            <p:ph idx="1" type="subTitle"/>
          </p:nvPr>
        </p:nvSpPr>
        <p:spPr>
          <a:xfrm>
            <a:off x="5239600" y="250400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FRONTEND REFACTORS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02" name="Google Shape;502;p56"/>
          <p:cNvSpPr txBox="1"/>
          <p:nvPr>
            <p:ph idx="2" type="body"/>
          </p:nvPr>
        </p:nvSpPr>
        <p:spPr>
          <a:xfrm>
            <a:off x="5048050" y="2809170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Selectable polling modes, additional long polling and UI state, bug fixes. Additional state for simulated progress.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3" name="Google Shape;503;p56"/>
          <p:cNvSpPr/>
          <p:nvPr/>
        </p:nvSpPr>
        <p:spPr>
          <a:xfrm>
            <a:off x="5047377" y="1615722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6"/>
          <p:cNvSpPr txBox="1"/>
          <p:nvPr>
            <p:ph idx="1" type="subTitle"/>
          </p:nvPr>
        </p:nvSpPr>
        <p:spPr>
          <a:xfrm>
            <a:off x="5238925" y="152003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BACKEND REFACTORS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05" name="Google Shape;505;p56"/>
          <p:cNvSpPr txBox="1"/>
          <p:nvPr>
            <p:ph idx="2" type="body"/>
          </p:nvPr>
        </p:nvSpPr>
        <p:spPr>
          <a:xfrm>
            <a:off x="5047375" y="1825197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Individual image variant generation, long polling + short polling, worker logic and artificial delays.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06" name="Google Shape;506;p56"/>
          <p:cNvCxnSpPr/>
          <p:nvPr/>
        </p:nvCxnSpPr>
        <p:spPr>
          <a:xfrm>
            <a:off x="4769801" y="1474083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56"/>
          <p:cNvCxnSpPr/>
          <p:nvPr/>
        </p:nvCxnSpPr>
        <p:spPr>
          <a:xfrm>
            <a:off x="4769801" y="24580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56"/>
          <p:cNvCxnSpPr/>
          <p:nvPr/>
        </p:nvCxnSpPr>
        <p:spPr>
          <a:xfrm>
            <a:off x="4769801" y="366555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56"/>
          <p:cNvSpPr txBox="1"/>
          <p:nvPr/>
        </p:nvSpPr>
        <p:spPr>
          <a:xfrm>
            <a:off x="1188950" y="2045600"/>
            <a:ext cx="282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</a:pPr>
            <a:r>
              <a:rPr lang="en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70+ commits</a:t>
            </a:r>
            <a:endParaRPr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</a:pPr>
            <a:r>
              <a:rPr lang="en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36+ hours</a:t>
            </a:r>
            <a:endParaRPr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</a:pPr>
            <a:r>
              <a:rPr lang="en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3 weeks</a:t>
            </a:r>
            <a:endParaRPr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</a:pPr>
            <a:r>
              <a:rPr lang="en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Ticker-based notification long polling implementation over channel-based.</a:t>
            </a:r>
            <a:endParaRPr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 txBox="1"/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515" name="Google Shape;515;p57"/>
          <p:cNvSpPr txBox="1"/>
          <p:nvPr>
            <p:ph idx="1" type="subTitle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1) </a:t>
            </a:r>
            <a:r>
              <a:rPr lang="en"/>
              <a:t>Short + Long Polling Demo</a:t>
            </a:r>
            <a:endParaRPr/>
          </a:p>
        </p:txBody>
      </p:sp>
      <p:sp>
        <p:nvSpPr>
          <p:cNvPr id="516" name="Google Shape;516;p57"/>
          <p:cNvSpPr txBox="1"/>
          <p:nvPr>
            <p:ph idx="5" type="subTitle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5) Cancellation During Processing (AbortController)</a:t>
            </a:r>
            <a:endParaRPr/>
          </a:p>
        </p:txBody>
      </p:sp>
      <p:sp>
        <p:nvSpPr>
          <p:cNvPr id="517" name="Google Shape;517;p57"/>
          <p:cNvSpPr txBox="1"/>
          <p:nvPr>
            <p:ph idx="2" type="subTitle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2)</a:t>
            </a:r>
            <a:r>
              <a:rPr lang="en"/>
              <a:t> </a:t>
            </a:r>
            <a:r>
              <a:rPr lang="en"/>
              <a:t>Short + Long Polling Job Failure Demo</a:t>
            </a:r>
            <a:endParaRPr/>
          </a:p>
        </p:txBody>
      </p:sp>
      <p:sp>
        <p:nvSpPr>
          <p:cNvPr id="518" name="Google Shape;518;p57"/>
          <p:cNvSpPr txBox="1"/>
          <p:nvPr>
            <p:ph idx="3" type="subTitle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3) Switch Observation Mode During Processing</a:t>
            </a:r>
            <a:endParaRPr/>
          </a:p>
        </p:txBody>
      </p:sp>
      <p:sp>
        <p:nvSpPr>
          <p:cNvPr id="519" name="Google Shape;519;p57"/>
          <p:cNvSpPr txBox="1"/>
          <p:nvPr>
            <p:ph idx="4" type="subTitle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4) Change Long Polling Wait During Processing</a:t>
            </a:r>
            <a:endParaRPr/>
          </a:p>
        </p:txBody>
      </p:sp>
      <p:sp>
        <p:nvSpPr>
          <p:cNvPr id="520" name="Google Shape;520;p57"/>
          <p:cNvSpPr txBox="1"/>
          <p:nvPr>
            <p:ph idx="6" type="subTitle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6) Retrieval Error Handling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>
            <p:ph idx="6" type="subTitle"/>
          </p:nvPr>
        </p:nvSpPr>
        <p:spPr>
          <a:xfrm>
            <a:off x="985100" y="1386425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SAME IMAGE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26" name="Google Shape;526;p58"/>
          <p:cNvSpPr txBox="1"/>
          <p:nvPr>
            <p:ph idx="7" type="subTitle"/>
          </p:nvPr>
        </p:nvSpPr>
        <p:spPr>
          <a:xfrm>
            <a:off x="3829586" y="1386425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 RUNS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27" name="Google Shape;527;p58"/>
          <p:cNvSpPr txBox="1"/>
          <p:nvPr>
            <p:ph idx="8" type="body"/>
          </p:nvPr>
        </p:nvSpPr>
        <p:spPr>
          <a:xfrm>
            <a:off x="704758" y="1768318"/>
            <a:ext cx="25365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The same image was used for each run, alternating short polling and long polling.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8" name="Google Shape;528;p5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58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grpSp>
        <p:nvGrpSpPr>
          <p:cNvPr id="530" name="Google Shape;530;p58"/>
          <p:cNvGrpSpPr/>
          <p:nvPr/>
        </p:nvGrpSpPr>
        <p:grpSpPr>
          <a:xfrm>
            <a:off x="8607473" y="1296299"/>
            <a:ext cx="214460" cy="708906"/>
            <a:chOff x="8278241" y="2502000"/>
            <a:chExt cx="324300" cy="1072150"/>
          </a:xfrm>
        </p:grpSpPr>
        <p:sp>
          <p:nvSpPr>
            <p:cNvPr id="531" name="Google Shape;531;p58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8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8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58"/>
          <p:cNvSpPr/>
          <p:nvPr/>
        </p:nvSpPr>
        <p:spPr>
          <a:xfrm>
            <a:off x="793552" y="148210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8"/>
          <p:cNvSpPr/>
          <p:nvPr/>
        </p:nvSpPr>
        <p:spPr>
          <a:xfrm>
            <a:off x="3670292" y="1482113"/>
            <a:ext cx="1104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8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EXPERIMENTS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537" name="Google Shape;537;p58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8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58"/>
          <p:cNvSpPr txBox="1"/>
          <p:nvPr>
            <p:ph idx="8" type="body"/>
          </p:nvPr>
        </p:nvSpPr>
        <p:spPr>
          <a:xfrm>
            <a:off x="3587450" y="1766546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Three runs were conducted for each condition and each polling mode.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0" name="Google Shape;540;p58"/>
          <p:cNvSpPr txBox="1"/>
          <p:nvPr>
            <p:ph idx="4294967295" type="body"/>
          </p:nvPr>
        </p:nvSpPr>
        <p:spPr>
          <a:xfrm>
            <a:off x="6558950" y="1781750"/>
            <a:ext cx="19533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request count 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and 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completion-detection delay by condition.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1" name="Google Shape;541;p58"/>
          <p:cNvSpPr txBox="1"/>
          <p:nvPr>
            <p:ph idx="6" type="subTitle"/>
          </p:nvPr>
        </p:nvSpPr>
        <p:spPr>
          <a:xfrm>
            <a:off x="6750500" y="1386425"/>
            <a:ext cx="17619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CHARTS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42" name="Google Shape;542;p58"/>
          <p:cNvSpPr/>
          <p:nvPr/>
        </p:nvSpPr>
        <p:spPr>
          <a:xfrm>
            <a:off x="6558952" y="1482111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3" name="Google Shape;543;p58"/>
          <p:cNvGraphicFramePr/>
          <p:nvPr/>
        </p:nvGraphicFramePr>
        <p:xfrm>
          <a:off x="1056975" y="25282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{5C0C52B7-A40C-49DB-B605-DC794E575C55}</a:tableStyleId>
              </a:tblPr>
              <a:tblGrid>
                <a:gridCol w="1479650"/>
                <a:gridCol w="5563450"/>
              </a:tblGrid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Summary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rgbClr val="17324D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30s delay before processing.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artificial delays.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10s simulated phase, simulated updates every 2s.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simulated phase, simulated updates every 200ms.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as C2 with 200ms latency.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29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C3-X (Extra)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as C2 with 400ms latency.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cxnSp>
        <p:nvCxnSpPr>
          <p:cNvPr id="544" name="Google Shape;544;p58"/>
          <p:cNvCxnSpPr/>
          <p:nvPr/>
        </p:nvCxnSpPr>
        <p:spPr>
          <a:xfrm>
            <a:off x="373035" y="47977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59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grpSp>
        <p:nvGrpSpPr>
          <p:cNvPr id="551" name="Google Shape;551;p59"/>
          <p:cNvGrpSpPr/>
          <p:nvPr/>
        </p:nvGrpSpPr>
        <p:grpSpPr>
          <a:xfrm>
            <a:off x="235673" y="4018024"/>
            <a:ext cx="214460" cy="708906"/>
            <a:chOff x="8278241" y="2502000"/>
            <a:chExt cx="324300" cy="1072150"/>
          </a:xfrm>
        </p:grpSpPr>
        <p:sp>
          <p:nvSpPr>
            <p:cNvPr id="552" name="Google Shape;552;p59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9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59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5" name="Google Shape;555;p59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RESULTS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556" name="Google Shape;556;p59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59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59"/>
          <p:cNvCxnSpPr/>
          <p:nvPr/>
        </p:nvCxnSpPr>
        <p:spPr>
          <a:xfrm>
            <a:off x="371302" y="4799171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59" name="Google Shape;559;p59"/>
          <p:cNvGraphicFramePr/>
          <p:nvPr/>
        </p:nvGraphicFramePr>
        <p:xfrm>
          <a:off x="1082850" y="142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{B7759448-D5AB-4EED-B314-0BBE0966A651}</a:tableStyleId>
              </a:tblPr>
              <a:tblGrid>
                <a:gridCol w="600075"/>
                <a:gridCol w="790575"/>
                <a:gridCol w="1152525"/>
                <a:gridCol w="1190625"/>
                <a:gridCol w="1104900"/>
                <a:gridCol w="2152650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Condition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Minimum Requests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Maximum Requests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Average Requests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Average Completion-Detection Delay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317.3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295.0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65.3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328.3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336.0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108.7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729.7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304.0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C3-X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Short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1120.7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C3-X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 Polling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563.0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60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grpSp>
        <p:nvGrpSpPr>
          <p:cNvPr id="566" name="Google Shape;566;p60"/>
          <p:cNvGrpSpPr/>
          <p:nvPr/>
        </p:nvGrpSpPr>
        <p:grpSpPr>
          <a:xfrm>
            <a:off x="235673" y="4018024"/>
            <a:ext cx="214460" cy="708906"/>
            <a:chOff x="8278241" y="2502000"/>
            <a:chExt cx="324300" cy="1072150"/>
          </a:xfrm>
        </p:grpSpPr>
        <p:sp>
          <p:nvSpPr>
            <p:cNvPr id="567" name="Google Shape;567;p60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0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0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60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REQUEST COUNT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571" name="Google Shape;571;p60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60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60"/>
          <p:cNvCxnSpPr/>
          <p:nvPr/>
        </p:nvCxnSpPr>
        <p:spPr>
          <a:xfrm>
            <a:off x="371302" y="4799171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4" name="Google Shape;57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07" y="1309550"/>
            <a:ext cx="6155080" cy="337207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0"/>
          <p:cNvSpPr txBox="1"/>
          <p:nvPr>
            <p:ph idx="4294967295" type="body"/>
          </p:nvPr>
        </p:nvSpPr>
        <p:spPr>
          <a:xfrm>
            <a:off x="6888950" y="1773450"/>
            <a:ext cx="1953300" cy="29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204 No Content response for long polling in A.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High long polling requests with simulated updates (C2, C3).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Short polling consistent across C1, C2, C3.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Same request count for long polling C2 and C3. 200ms aligns with 200ms ticker.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400 ms latency in C3-X halves long polling request count.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7080500" y="1378125"/>
            <a:ext cx="17619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KEY POINTS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77" name="Google Shape;577;p60"/>
          <p:cNvSpPr/>
          <p:nvPr/>
        </p:nvSpPr>
        <p:spPr>
          <a:xfrm>
            <a:off x="6888952" y="1473811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61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2</a:t>
            </a:r>
            <a:endParaRPr/>
          </a:p>
        </p:txBody>
      </p:sp>
      <p:grpSp>
        <p:nvGrpSpPr>
          <p:cNvPr id="584" name="Google Shape;584;p61"/>
          <p:cNvGrpSpPr/>
          <p:nvPr/>
        </p:nvGrpSpPr>
        <p:grpSpPr>
          <a:xfrm>
            <a:off x="235673" y="4018024"/>
            <a:ext cx="214460" cy="708906"/>
            <a:chOff x="8278241" y="2502000"/>
            <a:chExt cx="324300" cy="1072150"/>
          </a:xfrm>
        </p:grpSpPr>
        <p:sp>
          <p:nvSpPr>
            <p:cNvPr id="585" name="Google Shape;585;p61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1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1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61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DETECTION DELAY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589" name="Google Shape;589;p61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61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61"/>
          <p:cNvCxnSpPr/>
          <p:nvPr/>
        </p:nvCxnSpPr>
        <p:spPr>
          <a:xfrm>
            <a:off x="371302" y="4799171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61"/>
          <p:cNvSpPr txBox="1"/>
          <p:nvPr>
            <p:ph idx="4294967295" type="body"/>
          </p:nvPr>
        </p:nvSpPr>
        <p:spPr>
          <a:xfrm>
            <a:off x="6888950" y="1773450"/>
            <a:ext cx="1953300" cy="29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Completion-Detection Delay = Client detection time minus Terminal Commit time.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IBM Plex Sans"/>
                <a:ea typeface="IBM Plex Sans"/>
                <a:cs typeface="IBM Plex Sans"/>
                <a:sym typeface="IBM Plex Sans"/>
              </a:rPr>
              <a:t>Long polling has lower delay across all conditions.</a:t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61"/>
          <p:cNvSpPr txBox="1"/>
          <p:nvPr>
            <p:ph idx="6" type="subTitle"/>
          </p:nvPr>
        </p:nvSpPr>
        <p:spPr>
          <a:xfrm>
            <a:off x="7080500" y="1378125"/>
            <a:ext cx="17619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KEY POINTS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94" name="Google Shape;594;p61"/>
          <p:cNvSpPr/>
          <p:nvPr/>
        </p:nvSpPr>
        <p:spPr>
          <a:xfrm>
            <a:off x="6888952" y="1473811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57" y="1321300"/>
            <a:ext cx="6134021" cy="3348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 txBox="1"/>
          <p:nvPr>
            <p:ph idx="3" type="body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Had higher observation database reads across all conditions. This is due to the the 200ms ticker in the backend implementation. </a:t>
            </a:r>
            <a:endParaRPr/>
          </a:p>
        </p:txBody>
      </p:sp>
      <p:sp>
        <p:nvSpPr>
          <p:cNvPr id="601" name="Google Shape;601;p62"/>
          <p:cNvSpPr txBox="1"/>
          <p:nvPr>
            <p:ph idx="4" type="subTitle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BOTH</a:t>
            </a:r>
            <a:endParaRPr/>
          </a:p>
        </p:txBody>
      </p:sp>
      <p:sp>
        <p:nvSpPr>
          <p:cNvPr id="602" name="Google Shape;602;p62"/>
          <p:cNvSpPr txBox="1"/>
          <p:nvPr>
            <p:ph idx="7" type="body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Didn’t result in any 204 No Content responses. This is expected as the job snapshot should be returned in short polling.</a:t>
            </a:r>
            <a:endParaRPr/>
          </a:p>
        </p:txBody>
      </p:sp>
      <p:sp>
        <p:nvSpPr>
          <p:cNvPr id="603" name="Google Shape;603;p62"/>
          <p:cNvSpPr txBox="1"/>
          <p:nvPr>
            <p:ph idx="6" type="subTitle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SHORT POLLING</a:t>
            </a:r>
            <a:endParaRPr/>
          </a:p>
        </p:txBody>
      </p:sp>
      <p:sp>
        <p:nvSpPr>
          <p:cNvPr id="604" name="Google Shape;604;p62"/>
          <p:cNvSpPr txBox="1"/>
          <p:nvPr>
            <p:ph idx="8" type="subTitle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BOTH</a:t>
            </a:r>
            <a:endParaRPr/>
          </a:p>
        </p:txBody>
      </p:sp>
      <p:sp>
        <p:nvSpPr>
          <p:cNvPr id="605" name="Google Shape;605;p62"/>
          <p:cNvSpPr txBox="1"/>
          <p:nvPr>
            <p:ph idx="2" type="subTitle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LONG POLLING</a:t>
            </a:r>
            <a:endParaRPr/>
          </a:p>
        </p:txBody>
      </p:sp>
      <p:sp>
        <p:nvSpPr>
          <p:cNvPr id="606" name="Google Shape;606;p62"/>
          <p:cNvSpPr txBox="1"/>
          <p:nvPr>
            <p:ph idx="1" type="body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Processing duration were consistent across both polling modes. Non-artificial duration has the real processing being around 500-600ms.</a:t>
            </a:r>
            <a:endParaRPr/>
          </a:p>
        </p:txBody>
      </p:sp>
      <p:sp>
        <p:nvSpPr>
          <p:cNvPr id="607" name="Google Shape;607;p62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NOTABLE RESULTS</a:t>
            </a:r>
            <a:endParaRPr/>
          </a:p>
        </p:txBody>
      </p:sp>
      <p:sp>
        <p:nvSpPr>
          <p:cNvPr id="608" name="Google Shape;608;p62"/>
          <p:cNvSpPr txBox="1"/>
          <p:nvPr>
            <p:ph idx="5" type="body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Run variations sometimes skipped an intermediate version. This is due to timing in short polling interval, long polling ticker, latency, and browser packet queuing.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"/>
          <p:cNvSpPr txBox="1"/>
          <p:nvPr>
            <p:ph idx="6" type="subTitle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Ticker can potentially be optimized or implemented using a channel-based notification approach.</a:t>
            </a:r>
            <a:endParaRPr/>
          </a:p>
        </p:txBody>
      </p:sp>
      <p:sp>
        <p:nvSpPr>
          <p:cNvPr id="614" name="Google Shape;614;p63"/>
          <p:cNvSpPr txBox="1"/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ImageLab v2 Conclusions</a:t>
            </a:r>
            <a:endParaRPr sz="3200"/>
          </a:p>
        </p:txBody>
      </p:sp>
      <p:sp>
        <p:nvSpPr>
          <p:cNvPr id="615" name="Google Shape;615;p63"/>
          <p:cNvSpPr txBox="1"/>
          <p:nvPr>
            <p:ph idx="1" type="subTitle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Long polling is better than short polling in some cases, but worse in others.</a:t>
            </a:r>
            <a:endParaRPr/>
          </a:p>
        </p:txBody>
      </p:sp>
      <p:sp>
        <p:nvSpPr>
          <p:cNvPr id="616" name="Google Shape;616;p63"/>
          <p:cNvSpPr txBox="1"/>
          <p:nvPr>
            <p:ph idx="5" type="subTitle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Still using a single worker. Limitations pertaining performance under simultaneous loads and multiple workers.</a:t>
            </a:r>
            <a:endParaRPr/>
          </a:p>
        </p:txBody>
      </p:sp>
      <p:sp>
        <p:nvSpPr>
          <p:cNvPr id="617" name="Google Shape;617;p63"/>
          <p:cNvSpPr txBox="1"/>
          <p:nvPr>
            <p:ph idx="2" type="subTitle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Long polling consistently had a lower detection delay compared to short polling.</a:t>
            </a:r>
            <a:endParaRPr/>
          </a:p>
        </p:txBody>
      </p:sp>
      <p:sp>
        <p:nvSpPr>
          <p:cNvPr id="618" name="Google Shape;618;p63"/>
          <p:cNvSpPr txBox="1"/>
          <p:nvPr>
            <p:ph idx="3" type="subTitle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Long polling works great when that lower detection delay is needed.</a:t>
            </a:r>
            <a:endParaRPr/>
          </a:p>
        </p:txBody>
      </p:sp>
      <p:sp>
        <p:nvSpPr>
          <p:cNvPr id="619" name="Google Shape;619;p63"/>
          <p:cNvSpPr txBox="1"/>
          <p:nvPr>
            <p:ph idx="4" type="subTitle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Long polling is more complex to implement than short polling.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posal for New Client">
  <a:themeElements>
    <a:clrScheme name="Simple Light">
      <a:dk1>
        <a:srgbClr val="004A2E"/>
      </a:dk1>
      <a:lt1>
        <a:srgbClr val="F1F1E9"/>
      </a:lt1>
      <a:dk2>
        <a:srgbClr val="00160D"/>
      </a:dk2>
      <a:lt2>
        <a:srgbClr val="26A96C"/>
      </a:lt2>
      <a:accent1>
        <a:srgbClr val="002517"/>
      </a:accent1>
      <a:accent2>
        <a:srgbClr val="1A5C42"/>
      </a:accent2>
      <a:accent3>
        <a:srgbClr val="4C806C"/>
      </a:accent3>
      <a:accent4>
        <a:srgbClr val="CCDAD5"/>
      </a:accent4>
      <a:accent5>
        <a:srgbClr val="EEF7F5"/>
      </a:accent5>
      <a:accent6>
        <a:srgbClr val="FFFFFF"/>
      </a:accent6>
      <a:hlink>
        <a:srgbClr val="26A9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